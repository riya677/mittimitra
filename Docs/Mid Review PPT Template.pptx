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50875" y="1123949"/>
            <a:ext cx="4025900" cy="4316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61100" y="1069974"/>
            <a:ext cx="3841750" cy="407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53173"/>
            <a:ext cx="12192000" cy="5048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25075" y="6486523"/>
            <a:ext cx="1781175" cy="3143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875" y="282193"/>
            <a:ext cx="3463290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A3123E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875" y="1032573"/>
            <a:ext cx="5125720" cy="379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3339" y="6585430"/>
            <a:ext cx="299085" cy="270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8114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00125" y="2319401"/>
            <a:ext cx="3448050" cy="1637030"/>
            <a:chOff x="1000125" y="2319401"/>
            <a:chExt cx="3448050" cy="1637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125" y="2571750"/>
              <a:ext cx="3448050" cy="11049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338701" y="2319401"/>
              <a:ext cx="0" cy="1637030"/>
            </a:xfrm>
            <a:custGeom>
              <a:avLst/>
              <a:gdLst/>
              <a:ahLst/>
              <a:cxnLst/>
              <a:rect l="l" t="t" r="r" b="b"/>
              <a:pathLst>
                <a:path w="0" h="1637029">
                  <a:moveTo>
                    <a:pt x="0" y="0"/>
                  </a:moveTo>
                  <a:lnTo>
                    <a:pt x="0" y="1636776"/>
                  </a:lnTo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351651" y="3898836"/>
            <a:ext cx="4516755" cy="2207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imes New Roman"/>
                <a:cs typeface="Times New Roman"/>
              </a:rPr>
              <a:t>Guided</a:t>
            </a:r>
            <a:r>
              <a:rPr dirty="0" sz="18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imes New Roman"/>
                <a:cs typeface="Times New Roman"/>
              </a:rPr>
              <a:t>by,</a:t>
            </a:r>
            <a:endParaRPr sz="1800">
              <a:latin typeface="Times New Roman"/>
              <a:cs typeface="Times New Roman"/>
            </a:endParaRPr>
          </a:p>
          <a:p>
            <a:pPr marL="1099185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Ms.</a:t>
            </a:r>
            <a:r>
              <a:rPr dirty="0"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Remya</a:t>
            </a:r>
            <a:r>
              <a:rPr dirty="0" sz="18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Tahoma"/>
                <a:cs typeface="Tahoma"/>
              </a:rPr>
              <a:t>VS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1800">
              <a:latin typeface="Tahoma"/>
              <a:cs typeface="Tahoma"/>
            </a:endParaRPr>
          </a:p>
          <a:p>
            <a:pPr marL="361950" marR="5080">
              <a:lnSpc>
                <a:spcPct val="997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(am.en.u4cse22311)</a:t>
            </a:r>
            <a:r>
              <a:rPr dirty="0" sz="18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95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Adithya</a:t>
            </a:r>
            <a:r>
              <a:rPr dirty="0" sz="1800" spc="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Krishna</a:t>
            </a:r>
            <a:r>
              <a:rPr dirty="0" sz="18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ahoma"/>
                <a:cs typeface="Tahoma"/>
              </a:rPr>
              <a:t>J </a:t>
            </a: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(am.en.u4cse22316)</a:t>
            </a:r>
            <a:r>
              <a:rPr dirty="0" sz="18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Bharadwaj</a:t>
            </a:r>
            <a:r>
              <a:rPr dirty="0" sz="18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ahoma"/>
                <a:cs typeface="Tahoma"/>
              </a:rPr>
              <a:t>Kesav</a:t>
            </a:r>
            <a:r>
              <a:rPr dirty="0" sz="18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ahoma"/>
                <a:cs typeface="Tahoma"/>
              </a:rPr>
              <a:t>P </a:t>
            </a: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(am.en.u4cse22325)</a:t>
            </a:r>
            <a:r>
              <a:rPr dirty="0" sz="18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Kasinadhan</a:t>
            </a:r>
            <a:r>
              <a:rPr dirty="0" sz="18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ahoma"/>
                <a:cs typeface="Tahoma"/>
              </a:rPr>
              <a:t>S </a:t>
            </a:r>
            <a:r>
              <a:rPr dirty="0" sz="1800">
                <a:solidFill>
                  <a:srgbClr val="FFFFFF"/>
                </a:solidFill>
                <a:latin typeface="Tahoma"/>
                <a:cs typeface="Tahoma"/>
              </a:rPr>
              <a:t>(am.en.u4cse22343)</a:t>
            </a:r>
            <a:r>
              <a:rPr dirty="0" sz="18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Tahoma"/>
                <a:cs typeface="Tahoma"/>
              </a:rPr>
              <a:t>Pranav</a:t>
            </a:r>
            <a:r>
              <a:rPr dirty="0" sz="18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ahoma"/>
                <a:cs typeface="Tahoma"/>
              </a:rPr>
              <a:t>P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37125" y="1810638"/>
            <a:ext cx="6180455" cy="1977389"/>
          </a:xfrm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45"/>
              </a:spcBef>
            </a:pPr>
            <a:r>
              <a:rPr dirty="0" spc="-95">
                <a:solidFill>
                  <a:srgbClr val="FFFFFF"/>
                </a:solidFill>
                <a:latin typeface="Tahoma"/>
                <a:cs typeface="Tahoma"/>
              </a:rPr>
              <a:t>Real-</a:t>
            </a:r>
            <a:r>
              <a:rPr dirty="0" spc="55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r>
              <a:rPr dirty="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FFFFFF"/>
                </a:solidFill>
                <a:latin typeface="Tahoma"/>
                <a:cs typeface="Tahoma"/>
              </a:rPr>
              <a:t>Surveillance</a:t>
            </a:r>
            <a:r>
              <a:rPr dirty="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dirty="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pc="-25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dirty="0" spc="90">
                <a:solidFill>
                  <a:srgbClr val="FFFFFF"/>
                </a:solidFill>
                <a:latin typeface="Tahoma"/>
                <a:cs typeface="Tahoma"/>
              </a:rPr>
              <a:t>Detecting</a:t>
            </a:r>
            <a:r>
              <a:rPr dirty="0" spc="-2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pc="70">
                <a:solidFill>
                  <a:srgbClr val="FFFFFF"/>
                </a:solidFill>
                <a:latin typeface="Tahoma"/>
                <a:cs typeface="Tahoma"/>
              </a:rPr>
              <a:t>Unauthorized</a:t>
            </a:r>
            <a:r>
              <a:rPr dirty="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pc="120">
                <a:solidFill>
                  <a:srgbClr val="FFFFFF"/>
                </a:solidFill>
                <a:latin typeface="Tahoma"/>
                <a:cs typeface="Tahoma"/>
              </a:rPr>
              <a:t>Garbage </a:t>
            </a:r>
            <a:r>
              <a:rPr dirty="0" spc="145">
                <a:solidFill>
                  <a:srgbClr val="FFFFFF"/>
                </a:solidFill>
                <a:latin typeface="Tahoma"/>
                <a:cs typeface="Tahoma"/>
              </a:rPr>
              <a:t>Dumping</a:t>
            </a:r>
            <a:r>
              <a:rPr dirty="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pc="90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dirty="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FFFFFF"/>
                </a:solidFill>
                <a:latin typeface="Tahoma"/>
                <a:cs typeface="Tahoma"/>
              </a:rPr>
              <a:t>Pose</a:t>
            </a:r>
            <a:r>
              <a:rPr dirty="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pc="-10">
                <a:solidFill>
                  <a:srgbClr val="FFFFFF"/>
                </a:solidFill>
                <a:latin typeface="Tahoma"/>
                <a:cs typeface="Tahoma"/>
              </a:rPr>
              <a:t>Estimation </a:t>
            </a:r>
            <a:r>
              <a:rPr dirty="0" spc="10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pc="-1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pc="55">
                <a:solidFill>
                  <a:srgbClr val="FFFFFF"/>
                </a:solidFill>
                <a:latin typeface="Tahoma"/>
                <a:cs typeface="Tahoma"/>
              </a:rPr>
              <a:t>LSTM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410834" y="267652"/>
            <a:ext cx="4616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5">
                <a:solidFill>
                  <a:srgbClr val="FFFFFF"/>
                </a:solidFill>
                <a:latin typeface="Tahoma"/>
                <a:cs typeface="Tahoma"/>
              </a:rPr>
              <a:t>D15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750" spc="-10" b="0">
                <a:latin typeface="Georgia"/>
                <a:cs typeface="Georgia"/>
              </a:rPr>
              <a:t>Introduction</a:t>
            </a:r>
            <a:endParaRPr sz="2750">
              <a:latin typeface="Georgia"/>
              <a:cs typeface="Georgia"/>
            </a:endParaRPr>
          </a:p>
          <a:p>
            <a:pPr marL="240029" indent="-227329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750" spc="-10" b="0">
                <a:latin typeface="Georgia"/>
                <a:cs typeface="Georgia"/>
              </a:rPr>
              <a:t>Objectives</a:t>
            </a:r>
            <a:endParaRPr sz="2750">
              <a:latin typeface="Georgia"/>
              <a:cs typeface="Georgia"/>
            </a:endParaRPr>
          </a:p>
          <a:p>
            <a:pPr marL="240029" indent="-227329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750" b="0">
                <a:latin typeface="Georgia"/>
                <a:cs typeface="Georgia"/>
              </a:rPr>
              <a:t>Workflow</a:t>
            </a:r>
            <a:r>
              <a:rPr dirty="0" sz="2750" spc="130" b="0">
                <a:latin typeface="Georgia"/>
                <a:cs typeface="Georgia"/>
              </a:rPr>
              <a:t> </a:t>
            </a:r>
            <a:r>
              <a:rPr dirty="0" sz="2750" spc="-10" b="0">
                <a:latin typeface="Georgia"/>
                <a:cs typeface="Georgia"/>
              </a:rPr>
              <a:t>Diagram</a:t>
            </a:r>
            <a:endParaRPr sz="275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750" b="0">
                <a:latin typeface="Georgia"/>
                <a:cs typeface="Georgia"/>
              </a:rPr>
              <a:t>System</a:t>
            </a:r>
            <a:r>
              <a:rPr dirty="0" sz="2750" spc="95" b="0">
                <a:latin typeface="Georgia"/>
                <a:cs typeface="Georgia"/>
              </a:rPr>
              <a:t> </a:t>
            </a:r>
            <a:r>
              <a:rPr dirty="0" sz="2750" spc="-10" b="0">
                <a:latin typeface="Georgia"/>
                <a:cs typeface="Georgia"/>
              </a:rPr>
              <a:t>Design</a:t>
            </a:r>
            <a:endParaRPr sz="275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750" b="0">
                <a:latin typeface="Georgia"/>
                <a:cs typeface="Georgia"/>
              </a:rPr>
              <a:t>Result</a:t>
            </a:r>
            <a:r>
              <a:rPr dirty="0" sz="2750" spc="-15" b="0">
                <a:latin typeface="Georgia"/>
                <a:cs typeface="Georgia"/>
              </a:rPr>
              <a:t> </a:t>
            </a:r>
            <a:r>
              <a:rPr dirty="0" sz="2750" b="0">
                <a:latin typeface="Georgia"/>
                <a:cs typeface="Georgia"/>
              </a:rPr>
              <a:t>Analysis</a:t>
            </a:r>
            <a:r>
              <a:rPr dirty="0" sz="2750" spc="150" b="0">
                <a:latin typeface="Georgia"/>
                <a:cs typeface="Georgia"/>
              </a:rPr>
              <a:t> </a:t>
            </a:r>
            <a:r>
              <a:rPr dirty="0" sz="2750" b="0">
                <a:latin typeface="Georgia"/>
                <a:cs typeface="Georgia"/>
              </a:rPr>
              <a:t>(max</a:t>
            </a:r>
            <a:r>
              <a:rPr dirty="0" sz="2750" spc="90" b="0">
                <a:latin typeface="Georgia"/>
                <a:cs typeface="Georgia"/>
              </a:rPr>
              <a:t> </a:t>
            </a:r>
            <a:r>
              <a:rPr dirty="0" sz="2750" b="0">
                <a:latin typeface="Georgia"/>
                <a:cs typeface="Georgia"/>
              </a:rPr>
              <a:t>3</a:t>
            </a:r>
            <a:r>
              <a:rPr dirty="0" sz="2750" spc="114" b="0">
                <a:latin typeface="Georgia"/>
                <a:cs typeface="Georgia"/>
              </a:rPr>
              <a:t> </a:t>
            </a:r>
            <a:r>
              <a:rPr dirty="0" sz="2750" spc="-10" b="0">
                <a:latin typeface="Georgia"/>
                <a:cs typeface="Georgia"/>
              </a:rPr>
              <a:t>slides)</a:t>
            </a:r>
            <a:endParaRPr sz="2750">
              <a:latin typeface="Georgia"/>
              <a:cs typeface="Georgia"/>
            </a:endParaRPr>
          </a:p>
          <a:p>
            <a:pPr marL="240029" indent="-227329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750" b="0">
                <a:latin typeface="Georgia"/>
                <a:cs typeface="Georgia"/>
              </a:rPr>
              <a:t>Remaining</a:t>
            </a:r>
            <a:r>
              <a:rPr dirty="0" sz="2750" spc="95" b="0">
                <a:latin typeface="Georgia"/>
                <a:cs typeface="Georgia"/>
              </a:rPr>
              <a:t> </a:t>
            </a:r>
            <a:r>
              <a:rPr dirty="0" sz="2750" b="0">
                <a:latin typeface="Georgia"/>
                <a:cs typeface="Georgia"/>
              </a:rPr>
              <a:t>work</a:t>
            </a:r>
            <a:r>
              <a:rPr dirty="0" sz="2750" spc="100" b="0">
                <a:latin typeface="Georgia"/>
                <a:cs typeface="Georgia"/>
              </a:rPr>
              <a:t> </a:t>
            </a:r>
            <a:r>
              <a:rPr dirty="0" sz="2750" b="0">
                <a:latin typeface="Georgia"/>
                <a:cs typeface="Georgia"/>
              </a:rPr>
              <a:t>&amp;</a:t>
            </a:r>
            <a:r>
              <a:rPr dirty="0" sz="2750" spc="75" b="0">
                <a:latin typeface="Georgia"/>
                <a:cs typeface="Georgia"/>
              </a:rPr>
              <a:t> </a:t>
            </a:r>
            <a:r>
              <a:rPr dirty="0" sz="2750" b="0">
                <a:latin typeface="Georgia"/>
                <a:cs typeface="Georgia"/>
              </a:rPr>
              <a:t>GitHub</a:t>
            </a:r>
            <a:r>
              <a:rPr dirty="0" sz="2750" spc="114" b="0">
                <a:latin typeface="Georgia"/>
                <a:cs typeface="Georgia"/>
              </a:rPr>
              <a:t> </a:t>
            </a:r>
            <a:r>
              <a:rPr dirty="0" sz="2750" spc="-20" b="0">
                <a:latin typeface="Georgia"/>
                <a:cs typeface="Georgia"/>
              </a:rPr>
              <a:t>link</a:t>
            </a:r>
            <a:endParaRPr sz="2750">
              <a:latin typeface="Georgia"/>
              <a:cs typeface="Georgia"/>
            </a:endParaRPr>
          </a:p>
          <a:p>
            <a:pPr marL="240029" indent="-227329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750" spc="-10" b="0">
                <a:latin typeface="Georgia"/>
                <a:cs typeface="Georgia"/>
              </a:rPr>
              <a:t>Reference</a:t>
            </a:r>
            <a:endParaRPr sz="275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Outline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6573202"/>
            <a:ext cx="13271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57525" y="6511607"/>
            <a:ext cx="963294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D9D9D9"/>
                </a:solidFill>
                <a:latin typeface="Tahoma"/>
                <a:cs typeface="Tahoma"/>
              </a:rPr>
              <a:t>Project</a:t>
            </a:r>
            <a:r>
              <a:rPr dirty="0" sz="1500" spc="-145">
                <a:solidFill>
                  <a:srgbClr val="D9D9D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D9D9D9"/>
                </a:solidFill>
                <a:latin typeface="Tahoma"/>
                <a:cs typeface="Tahoma"/>
              </a:rPr>
              <a:t>title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0875" y="1026858"/>
            <a:ext cx="10452735" cy="3783965"/>
          </a:xfrm>
          <a:prstGeom prst="rect">
            <a:avLst/>
          </a:prstGeom>
        </p:spPr>
        <p:txBody>
          <a:bodyPr wrap="square" lIns="0" tIns="1200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dirty="0" sz="1800" b="1">
                <a:latin typeface="Georgia"/>
                <a:cs typeface="Georgia"/>
              </a:rPr>
              <a:t>Problem</a:t>
            </a:r>
            <a:r>
              <a:rPr dirty="0" sz="1800" spc="-30" b="1">
                <a:latin typeface="Georgia"/>
                <a:cs typeface="Georgia"/>
              </a:rPr>
              <a:t> </a:t>
            </a:r>
            <a:r>
              <a:rPr dirty="0" sz="1800" spc="-10" b="1">
                <a:latin typeface="Georgia"/>
                <a:cs typeface="Georgia"/>
              </a:rPr>
              <a:t>Statement: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8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Georgia"/>
                <a:cs typeface="Georgia"/>
              </a:rPr>
              <a:t>Urban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areas</a:t>
            </a:r>
            <a:r>
              <a:rPr dirty="0" sz="1800" spc="-6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face</a:t>
            </a:r>
            <a:r>
              <a:rPr dirty="0" sz="1800" spc="-7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serious</a:t>
            </a:r>
            <a:r>
              <a:rPr dirty="0" sz="1800" spc="-6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challenges</a:t>
            </a:r>
            <a:r>
              <a:rPr dirty="0" sz="1800" spc="-6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due</a:t>
            </a:r>
            <a:r>
              <a:rPr dirty="0" sz="1800" spc="-1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to</a:t>
            </a:r>
            <a:r>
              <a:rPr dirty="0" sz="1800" spc="-3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unauthorized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garbage</a:t>
            </a:r>
            <a:r>
              <a:rPr dirty="0" sz="1800" spc="-75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dumping.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Georgia"/>
                <a:cs typeface="Georgia"/>
              </a:rPr>
              <a:t>Traditional</a:t>
            </a:r>
            <a:r>
              <a:rPr dirty="0" sz="1800" spc="-4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CCTV</a:t>
            </a:r>
            <a:r>
              <a:rPr dirty="0" sz="1800" spc="-10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systems</a:t>
            </a:r>
            <a:r>
              <a:rPr dirty="0" sz="1800" spc="-6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only</a:t>
            </a:r>
            <a:r>
              <a:rPr dirty="0" sz="1800" spc="-3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record</a:t>
            </a:r>
            <a:r>
              <a:rPr dirty="0" sz="1800" spc="-3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footage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and</a:t>
            </a:r>
            <a:r>
              <a:rPr dirty="0" sz="1800" spc="-3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require</a:t>
            </a:r>
            <a:r>
              <a:rPr dirty="0" sz="1800" spc="-1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manual</a:t>
            </a:r>
            <a:r>
              <a:rPr dirty="0" sz="1800" spc="-35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monitoring.</a:t>
            </a:r>
            <a:endParaRPr sz="1800">
              <a:latin typeface="Georgia"/>
              <a:cs typeface="Georgia"/>
            </a:endParaRPr>
          </a:p>
          <a:p>
            <a:pPr marL="296545" indent="-28384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1800">
                <a:latin typeface="Georgia"/>
                <a:cs typeface="Georgia"/>
              </a:rPr>
              <a:t>Existing</a:t>
            </a:r>
            <a:r>
              <a:rPr dirty="0" sz="1800" spc="-5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automated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systems</a:t>
            </a:r>
            <a:r>
              <a:rPr dirty="0" sz="1800" spc="-6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focus</a:t>
            </a:r>
            <a:r>
              <a:rPr dirty="0" sz="1800" spc="1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on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object</a:t>
            </a:r>
            <a:r>
              <a:rPr dirty="0" sz="1800" spc="-5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detection</a:t>
            </a:r>
            <a:r>
              <a:rPr dirty="0" sz="1800" spc="-4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rather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than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understanding</a:t>
            </a:r>
            <a:r>
              <a:rPr dirty="0" sz="1800" spc="-5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human</a:t>
            </a:r>
            <a:r>
              <a:rPr dirty="0" sz="1800" spc="-95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behavior.</a:t>
            </a:r>
            <a:endParaRPr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25"/>
              </a:spcBef>
              <a:buFont typeface="Arial MT"/>
              <a:buChar char="•"/>
            </a:pP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Georgia"/>
                <a:cs typeface="Georgia"/>
              </a:rPr>
              <a:t>This</a:t>
            </a:r>
            <a:r>
              <a:rPr dirty="0" sz="1800" spc="-6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project</a:t>
            </a:r>
            <a:r>
              <a:rPr dirty="0" sz="1800" spc="-5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proposes</a:t>
            </a:r>
            <a:r>
              <a:rPr dirty="0" sz="1800" spc="1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a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 spc="-10" b="1">
                <a:latin typeface="Georgia"/>
                <a:cs typeface="Georgia"/>
              </a:rPr>
              <a:t>behavior-</a:t>
            </a:r>
            <a:r>
              <a:rPr dirty="0" sz="1800" b="1">
                <a:latin typeface="Georgia"/>
                <a:cs typeface="Georgia"/>
              </a:rPr>
              <a:t>based</a:t>
            </a:r>
            <a:r>
              <a:rPr dirty="0" sz="1800" spc="-50" b="1">
                <a:latin typeface="Georgia"/>
                <a:cs typeface="Georgia"/>
              </a:rPr>
              <a:t> </a:t>
            </a:r>
            <a:r>
              <a:rPr dirty="0" sz="1800" b="1">
                <a:latin typeface="Georgia"/>
                <a:cs typeface="Georgia"/>
              </a:rPr>
              <a:t>intelligent</a:t>
            </a:r>
            <a:r>
              <a:rPr dirty="0" sz="1800" spc="-20" b="1">
                <a:latin typeface="Georgia"/>
                <a:cs typeface="Georgia"/>
              </a:rPr>
              <a:t> </a:t>
            </a:r>
            <a:r>
              <a:rPr dirty="0" sz="1800" b="1">
                <a:latin typeface="Georgia"/>
                <a:cs typeface="Georgia"/>
              </a:rPr>
              <a:t>surveillance</a:t>
            </a:r>
            <a:r>
              <a:rPr dirty="0" sz="1800" spc="-35" b="1">
                <a:latin typeface="Georgia"/>
                <a:cs typeface="Georgia"/>
              </a:rPr>
              <a:t> </a:t>
            </a:r>
            <a:r>
              <a:rPr dirty="0" sz="1800" b="1">
                <a:latin typeface="Georgia"/>
                <a:cs typeface="Georgia"/>
              </a:rPr>
              <a:t>system</a:t>
            </a:r>
            <a:r>
              <a:rPr dirty="0" sz="1800" spc="-30" b="1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that</a:t>
            </a:r>
            <a:r>
              <a:rPr dirty="0" sz="1800" spc="-50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uses: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b="1">
                <a:latin typeface="Georgia"/>
                <a:cs typeface="Georgia"/>
              </a:rPr>
              <a:t>Pose</a:t>
            </a:r>
            <a:r>
              <a:rPr dirty="0" sz="1800" spc="-80" b="1">
                <a:latin typeface="Georgia"/>
                <a:cs typeface="Georgia"/>
              </a:rPr>
              <a:t> </a:t>
            </a:r>
            <a:r>
              <a:rPr dirty="0" sz="1800" b="1">
                <a:latin typeface="Georgia"/>
                <a:cs typeface="Georgia"/>
              </a:rPr>
              <a:t>Estimation</a:t>
            </a:r>
            <a:r>
              <a:rPr dirty="0" sz="1800" spc="15" b="1">
                <a:latin typeface="Georgia"/>
                <a:cs typeface="Georgia"/>
              </a:rPr>
              <a:t> </a:t>
            </a:r>
            <a:r>
              <a:rPr dirty="0" sz="1800" spc="-10" b="1">
                <a:latin typeface="Georgia"/>
                <a:cs typeface="Georgia"/>
              </a:rPr>
              <a:t>(MediaPipe)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b="1">
                <a:latin typeface="Georgia"/>
                <a:cs typeface="Georgia"/>
              </a:rPr>
              <a:t>Temporal</a:t>
            </a:r>
            <a:r>
              <a:rPr dirty="0" sz="1800" spc="-70" b="1">
                <a:latin typeface="Georgia"/>
                <a:cs typeface="Georgia"/>
              </a:rPr>
              <a:t> </a:t>
            </a:r>
            <a:r>
              <a:rPr dirty="0" sz="1800" b="1">
                <a:latin typeface="Georgia"/>
                <a:cs typeface="Georgia"/>
              </a:rPr>
              <a:t>Modeling</a:t>
            </a:r>
            <a:r>
              <a:rPr dirty="0" sz="1800" spc="-55" b="1">
                <a:latin typeface="Georgia"/>
                <a:cs typeface="Georgia"/>
              </a:rPr>
              <a:t> </a:t>
            </a:r>
            <a:r>
              <a:rPr dirty="0" sz="1800" spc="-10" b="1">
                <a:latin typeface="Georgia"/>
                <a:cs typeface="Georgia"/>
              </a:rPr>
              <a:t>(LSTM)</a:t>
            </a:r>
            <a:endParaRPr sz="18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 b="1">
                <a:latin typeface="Georgia"/>
                <a:cs typeface="Georgia"/>
              </a:rPr>
              <a:t>Real-</a:t>
            </a:r>
            <a:r>
              <a:rPr dirty="0" sz="1800" b="1">
                <a:latin typeface="Georgia"/>
                <a:cs typeface="Georgia"/>
              </a:rPr>
              <a:t>time</a:t>
            </a:r>
            <a:r>
              <a:rPr dirty="0" sz="1800" spc="-5" b="1">
                <a:latin typeface="Georgia"/>
                <a:cs typeface="Georgia"/>
              </a:rPr>
              <a:t> </a:t>
            </a:r>
            <a:r>
              <a:rPr dirty="0" sz="1800" b="1">
                <a:latin typeface="Georgia"/>
                <a:cs typeface="Georgia"/>
              </a:rPr>
              <a:t>Action</a:t>
            </a:r>
            <a:r>
              <a:rPr dirty="0" sz="1800" spc="-65" b="1">
                <a:latin typeface="Georgia"/>
                <a:cs typeface="Georgia"/>
              </a:rPr>
              <a:t> </a:t>
            </a:r>
            <a:r>
              <a:rPr dirty="0" sz="1800" spc="-10" b="1">
                <a:latin typeface="Georgia"/>
                <a:cs typeface="Georgia"/>
              </a:rPr>
              <a:t>Classification</a:t>
            </a:r>
            <a:endParaRPr sz="1800">
              <a:latin typeface="Georgia"/>
              <a:cs typeface="Georgia"/>
            </a:endParaRPr>
          </a:p>
          <a:p>
            <a:pPr marL="241300">
              <a:lnSpc>
                <a:spcPct val="100000"/>
              </a:lnSpc>
              <a:spcBef>
                <a:spcPts val="844"/>
              </a:spcBef>
            </a:pPr>
            <a:r>
              <a:rPr dirty="0" sz="1800">
                <a:latin typeface="Georgia"/>
                <a:cs typeface="Georgia"/>
              </a:rPr>
              <a:t>The</a:t>
            </a:r>
            <a:r>
              <a:rPr dirty="0" sz="1800" spc="-5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system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analyzes</a:t>
            </a:r>
            <a:r>
              <a:rPr dirty="0" sz="1800" spc="-5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human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motion</a:t>
            </a:r>
            <a:r>
              <a:rPr dirty="0" sz="1800" spc="-2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patterns</a:t>
            </a:r>
            <a:r>
              <a:rPr dirty="0" sz="1800" spc="-3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over</a:t>
            </a:r>
            <a:r>
              <a:rPr dirty="0" sz="1800" spc="-7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time</a:t>
            </a:r>
            <a:r>
              <a:rPr dirty="0" sz="1800" spc="-4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to</a:t>
            </a:r>
            <a:r>
              <a:rPr dirty="0" sz="1800" spc="-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detect</a:t>
            </a:r>
            <a:r>
              <a:rPr dirty="0" sz="1800" spc="-30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illegal</a:t>
            </a:r>
            <a:r>
              <a:rPr dirty="0" sz="1800" spc="-7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dumping</a:t>
            </a:r>
            <a:r>
              <a:rPr dirty="0" sz="1800" spc="-25">
                <a:latin typeface="Georgia"/>
                <a:cs typeface="Georgia"/>
              </a:rPr>
              <a:t> </a:t>
            </a:r>
            <a:r>
              <a:rPr dirty="0" sz="1800">
                <a:latin typeface="Georgia"/>
                <a:cs typeface="Georgia"/>
              </a:rPr>
              <a:t>activities</a:t>
            </a:r>
            <a:r>
              <a:rPr dirty="0" sz="1800" spc="40">
                <a:latin typeface="Georgia"/>
                <a:cs typeface="Georgia"/>
              </a:rPr>
              <a:t> </a:t>
            </a:r>
            <a:r>
              <a:rPr dirty="0" sz="1800" spc="-10">
                <a:latin typeface="Georgia"/>
                <a:cs typeface="Georgia"/>
              </a:rPr>
              <a:t>accurately.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/>
              <a:t>S8</a:t>
            </a:r>
            <a:r>
              <a:rPr dirty="0" spc="45"/>
              <a:t> </a:t>
            </a:r>
            <a:r>
              <a:rPr dirty="0" spc="-10"/>
              <a:t>Objectives</a:t>
            </a:r>
          </a:p>
          <a:p>
            <a:pPr>
              <a:lnSpc>
                <a:spcPct val="100000"/>
              </a:lnSpc>
              <a:spcBef>
                <a:spcPts val="1939"/>
              </a:spcBef>
              <a:buFont typeface="Arial MT"/>
              <a:buChar char="•"/>
            </a:pPr>
          </a:p>
          <a:p>
            <a:pPr marL="241300" marR="298450" indent="-228600">
              <a:lnSpc>
                <a:spcPct val="904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1800" spc="-10"/>
              <a:t>LSTM-</a:t>
            </a:r>
            <a:r>
              <a:rPr dirty="0" sz="1800"/>
              <a:t>Based</a:t>
            </a:r>
            <a:r>
              <a:rPr dirty="0" sz="1800" spc="-20"/>
              <a:t> </a:t>
            </a:r>
            <a:r>
              <a:rPr dirty="0" sz="1800"/>
              <a:t>Temporal</a:t>
            </a:r>
            <a:r>
              <a:rPr dirty="0" sz="1800" spc="-25"/>
              <a:t> </a:t>
            </a:r>
            <a:r>
              <a:rPr dirty="0" sz="1800" spc="-10"/>
              <a:t>Action </a:t>
            </a:r>
            <a:r>
              <a:rPr dirty="0" sz="1800"/>
              <a:t>Recognition</a:t>
            </a:r>
            <a:r>
              <a:rPr dirty="0" sz="1800" spc="-40"/>
              <a:t> </a:t>
            </a:r>
            <a:r>
              <a:rPr dirty="0" sz="1800"/>
              <a:t>for</a:t>
            </a:r>
            <a:r>
              <a:rPr dirty="0" sz="1800" spc="-20"/>
              <a:t> </a:t>
            </a:r>
            <a:r>
              <a:rPr dirty="0" sz="1800"/>
              <a:t>Garbage</a:t>
            </a:r>
            <a:r>
              <a:rPr dirty="0" sz="1800" spc="-70"/>
              <a:t> </a:t>
            </a:r>
            <a:r>
              <a:rPr dirty="0" sz="1800" spc="-10"/>
              <a:t>Dumping Detection</a:t>
            </a:r>
            <a:endParaRPr sz="1800"/>
          </a:p>
          <a:p>
            <a:pPr marL="241300" marR="446405" indent="-228600">
              <a:lnSpc>
                <a:spcPts val="195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/>
              <a:t>Multi-</a:t>
            </a:r>
            <a:r>
              <a:rPr dirty="0" sz="1800"/>
              <a:t>Frame</a:t>
            </a:r>
            <a:r>
              <a:rPr dirty="0" sz="1800" spc="-35"/>
              <a:t> </a:t>
            </a:r>
            <a:r>
              <a:rPr dirty="0" sz="1800"/>
              <a:t>Motion </a:t>
            </a:r>
            <a:r>
              <a:rPr dirty="0" sz="1800" spc="-10"/>
              <a:t>Pattern </a:t>
            </a:r>
            <a:r>
              <a:rPr dirty="0" sz="1800"/>
              <a:t>Modeling</a:t>
            </a:r>
            <a:r>
              <a:rPr dirty="0" sz="1800" spc="-35"/>
              <a:t> </a:t>
            </a:r>
            <a:r>
              <a:rPr dirty="0" sz="1800"/>
              <a:t>for</a:t>
            </a:r>
            <a:r>
              <a:rPr dirty="0" sz="1800" spc="-80"/>
              <a:t> </a:t>
            </a:r>
            <a:r>
              <a:rPr dirty="0" sz="1800"/>
              <a:t>Improved</a:t>
            </a:r>
            <a:r>
              <a:rPr dirty="0" sz="1800" spc="-5"/>
              <a:t> </a:t>
            </a:r>
            <a:r>
              <a:rPr dirty="0" sz="1800" spc="-10"/>
              <a:t>Accuracy</a:t>
            </a:r>
            <a:endParaRPr sz="1800"/>
          </a:p>
          <a:p>
            <a:pPr marL="241300" marR="640715" indent="-228600">
              <a:lnSpc>
                <a:spcPts val="195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/>
              <a:t>Robust</a:t>
            </a:r>
            <a:r>
              <a:rPr dirty="0" sz="1800" spc="-25"/>
              <a:t> </a:t>
            </a:r>
            <a:r>
              <a:rPr dirty="0" sz="1800" spc="-10"/>
              <a:t>Real-</a:t>
            </a:r>
            <a:r>
              <a:rPr dirty="0" sz="1800"/>
              <a:t>Time</a:t>
            </a:r>
            <a:r>
              <a:rPr dirty="0" sz="1800" spc="25"/>
              <a:t> </a:t>
            </a:r>
            <a:r>
              <a:rPr dirty="0" sz="1800" spc="-10"/>
              <a:t>Surveillance </a:t>
            </a:r>
            <a:r>
              <a:rPr dirty="0" sz="1800"/>
              <a:t>Pipeline</a:t>
            </a:r>
            <a:r>
              <a:rPr dirty="0" sz="1800" spc="-20"/>
              <a:t> </a:t>
            </a:r>
            <a:r>
              <a:rPr dirty="0" sz="1800" spc="-10"/>
              <a:t>Integration</a:t>
            </a:r>
            <a:endParaRPr sz="1800"/>
          </a:p>
          <a:p>
            <a:pPr marL="241300" marR="5080" indent="-228600">
              <a:lnSpc>
                <a:spcPts val="195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/>
              <a:t>Quantitative</a:t>
            </a:r>
            <a:r>
              <a:rPr dirty="0" sz="1800" spc="-10"/>
              <a:t> Performance</a:t>
            </a:r>
            <a:r>
              <a:rPr dirty="0" sz="1800" spc="-75"/>
              <a:t> </a:t>
            </a:r>
            <a:r>
              <a:rPr dirty="0" sz="1800" spc="-10"/>
              <a:t>Evaluation </a:t>
            </a:r>
            <a:r>
              <a:rPr dirty="0" sz="1800"/>
              <a:t>using</a:t>
            </a:r>
            <a:r>
              <a:rPr dirty="0" sz="1800" spc="-20"/>
              <a:t> </a:t>
            </a:r>
            <a:r>
              <a:rPr dirty="0" sz="1800"/>
              <a:t>Precision,</a:t>
            </a:r>
            <a:r>
              <a:rPr dirty="0" sz="1800" spc="-35"/>
              <a:t> </a:t>
            </a:r>
            <a:r>
              <a:rPr dirty="0" sz="1800"/>
              <a:t>Recall</a:t>
            </a:r>
            <a:r>
              <a:rPr dirty="0" sz="1800" spc="-65"/>
              <a:t> </a:t>
            </a:r>
            <a:r>
              <a:rPr dirty="0" sz="1800"/>
              <a:t>&amp;</a:t>
            </a:r>
            <a:r>
              <a:rPr dirty="0" sz="1800" spc="-5"/>
              <a:t> </a:t>
            </a:r>
            <a:r>
              <a:rPr dirty="0" sz="1800"/>
              <a:t>F1-</a:t>
            </a:r>
            <a:r>
              <a:rPr dirty="0" sz="1800" spc="-10"/>
              <a:t>Score</a:t>
            </a:r>
            <a:endParaRPr sz="1800"/>
          </a:p>
          <a:p>
            <a:pPr marL="241300" marR="318770" indent="-228600">
              <a:lnSpc>
                <a:spcPts val="195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/>
              <a:t>Research-</a:t>
            </a:r>
            <a:r>
              <a:rPr dirty="0" sz="1800"/>
              <a:t>Oriented</a:t>
            </a:r>
            <a:r>
              <a:rPr dirty="0" sz="1800" spc="-50"/>
              <a:t> </a:t>
            </a:r>
            <a:r>
              <a:rPr dirty="0" sz="1800"/>
              <a:t>Validation</a:t>
            </a:r>
            <a:r>
              <a:rPr dirty="0" sz="1800" spc="5"/>
              <a:t> </a:t>
            </a:r>
            <a:r>
              <a:rPr dirty="0" sz="1800" spc="-25"/>
              <a:t>and </a:t>
            </a:r>
            <a:r>
              <a:rPr dirty="0" sz="1800"/>
              <a:t>Publication</a:t>
            </a:r>
            <a:r>
              <a:rPr dirty="0" sz="1800" spc="-75"/>
              <a:t> </a:t>
            </a:r>
            <a:r>
              <a:rPr dirty="0" sz="1800" spc="-10"/>
              <a:t>Preparation</a:t>
            </a:r>
            <a:endParaRPr sz="1800"/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Objectives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S7</a:t>
            </a:r>
            <a:r>
              <a:rPr dirty="0" spc="55"/>
              <a:t> </a:t>
            </a:r>
            <a:r>
              <a:rPr dirty="0" spc="-10"/>
              <a:t>Objectives</a:t>
            </a:r>
          </a:p>
          <a:p>
            <a:pPr>
              <a:lnSpc>
                <a:spcPct val="100000"/>
              </a:lnSpc>
              <a:spcBef>
                <a:spcPts val="1975"/>
              </a:spcBef>
              <a:buFont typeface="Arial MT"/>
              <a:buChar char="•"/>
            </a:pPr>
          </a:p>
          <a:p>
            <a:pPr marL="241300" marR="5080" indent="-229235">
              <a:lnSpc>
                <a:spcPts val="195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1800" spc="-10"/>
              <a:t>Real-</a:t>
            </a:r>
            <a:r>
              <a:rPr dirty="0" sz="1800"/>
              <a:t>Time Human</a:t>
            </a:r>
            <a:r>
              <a:rPr dirty="0" sz="1800" spc="-35"/>
              <a:t> </a:t>
            </a:r>
            <a:r>
              <a:rPr dirty="0" sz="1800"/>
              <a:t>Pose </a:t>
            </a:r>
            <a:r>
              <a:rPr dirty="0" sz="1800" spc="-10"/>
              <a:t>Estimation </a:t>
            </a:r>
            <a:r>
              <a:rPr dirty="0" sz="1800"/>
              <a:t>using</a:t>
            </a:r>
            <a:r>
              <a:rPr dirty="0" sz="1800" spc="-30"/>
              <a:t> </a:t>
            </a:r>
            <a:r>
              <a:rPr dirty="0" sz="1800" spc="-10"/>
              <a:t>MediaPipe</a:t>
            </a:r>
            <a:endParaRPr sz="1800"/>
          </a:p>
          <a:p>
            <a:pPr marL="241300" marR="471805" indent="-229235">
              <a:lnSpc>
                <a:spcPts val="1880"/>
              </a:lnSpc>
              <a:spcBef>
                <a:spcPts val="11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/>
              <a:t>Skeleton-</a:t>
            </a:r>
            <a:r>
              <a:rPr dirty="0" sz="1800"/>
              <a:t>Based Action</a:t>
            </a:r>
            <a:r>
              <a:rPr dirty="0" sz="1800" spc="-25"/>
              <a:t> </a:t>
            </a:r>
            <a:r>
              <a:rPr dirty="0" sz="1800" spc="-10"/>
              <a:t>Feature Extraction</a:t>
            </a:r>
            <a:endParaRPr sz="1800"/>
          </a:p>
          <a:p>
            <a:pPr marL="241300" marR="24765" indent="-229235">
              <a:lnSpc>
                <a:spcPts val="1950"/>
              </a:lnSpc>
              <a:spcBef>
                <a:spcPts val="10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/>
              <a:t>Detection</a:t>
            </a:r>
            <a:r>
              <a:rPr dirty="0" sz="1800" spc="-55"/>
              <a:t> </a:t>
            </a:r>
            <a:r>
              <a:rPr dirty="0" sz="1800"/>
              <a:t>of</a:t>
            </a:r>
            <a:r>
              <a:rPr dirty="0" sz="1800" spc="-30"/>
              <a:t> </a:t>
            </a:r>
            <a:r>
              <a:rPr dirty="0" sz="1800"/>
              <a:t>Bending,</a:t>
            </a:r>
            <a:r>
              <a:rPr dirty="0" sz="1800" spc="-10"/>
              <a:t> </a:t>
            </a:r>
            <a:r>
              <a:rPr dirty="0" sz="1800"/>
              <a:t>Carrying</a:t>
            </a:r>
            <a:r>
              <a:rPr dirty="0" sz="1800" spc="-60"/>
              <a:t> </a:t>
            </a:r>
            <a:r>
              <a:rPr dirty="0" sz="1800" spc="-25"/>
              <a:t>and </a:t>
            </a:r>
            <a:r>
              <a:rPr dirty="0" sz="1800"/>
              <a:t>Dropping</a:t>
            </a:r>
            <a:r>
              <a:rPr dirty="0" sz="1800" spc="-60"/>
              <a:t> </a:t>
            </a:r>
            <a:r>
              <a:rPr dirty="0" sz="1800" spc="-10"/>
              <a:t>Actions</a:t>
            </a:r>
            <a:endParaRPr sz="1800"/>
          </a:p>
          <a:p>
            <a:pPr marL="241300" marR="443865" indent="-229235">
              <a:lnSpc>
                <a:spcPts val="195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/>
              <a:t>Intelligent</a:t>
            </a:r>
            <a:r>
              <a:rPr dirty="0" sz="1800" spc="-65"/>
              <a:t> </a:t>
            </a:r>
            <a:r>
              <a:rPr dirty="0" sz="1800"/>
              <a:t>Alert</a:t>
            </a:r>
            <a:r>
              <a:rPr dirty="0" sz="1800" spc="-65"/>
              <a:t> </a:t>
            </a:r>
            <a:r>
              <a:rPr dirty="0" sz="1800"/>
              <a:t>Generation</a:t>
            </a:r>
            <a:r>
              <a:rPr dirty="0" sz="1800" spc="-50"/>
              <a:t> </a:t>
            </a:r>
            <a:r>
              <a:rPr dirty="0" sz="1800" spc="-25"/>
              <a:t>for </a:t>
            </a:r>
            <a:r>
              <a:rPr dirty="0" sz="1800"/>
              <a:t>Unauthorized</a:t>
            </a:r>
            <a:r>
              <a:rPr dirty="0" sz="1800" spc="-45"/>
              <a:t> </a:t>
            </a:r>
            <a:r>
              <a:rPr dirty="0" sz="1800" spc="-10"/>
              <a:t>Dumping</a:t>
            </a:r>
            <a:endParaRPr sz="1800"/>
          </a:p>
          <a:p>
            <a:pPr marL="241300" marR="172720" indent="-229235">
              <a:lnSpc>
                <a:spcPts val="195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/>
              <a:t>Prototype</a:t>
            </a:r>
            <a:r>
              <a:rPr dirty="0" sz="1800" spc="-80"/>
              <a:t> </a:t>
            </a:r>
            <a:r>
              <a:rPr dirty="0" sz="1800"/>
              <a:t>Development</a:t>
            </a:r>
            <a:r>
              <a:rPr dirty="0" sz="1800" spc="-60"/>
              <a:t> </a:t>
            </a:r>
            <a:r>
              <a:rPr dirty="0" sz="1800"/>
              <a:t>for</a:t>
            </a:r>
            <a:r>
              <a:rPr dirty="0" sz="1800" spc="-25"/>
              <a:t> </a:t>
            </a:r>
            <a:r>
              <a:rPr dirty="0" sz="1800" spc="-10"/>
              <a:t>Smart Surveillance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3150" y="1133475"/>
            <a:ext cx="7515225" cy="4914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Workflow</a:t>
            </a:r>
            <a:r>
              <a:rPr dirty="0" spc="-110"/>
              <a:t> </a:t>
            </a:r>
            <a:r>
              <a:rPr dirty="0" spc="-10"/>
              <a:t>Diagram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6310" y="1796161"/>
            <a:ext cx="2938780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Design</a:t>
            </a:r>
            <a:r>
              <a:rPr dirty="0" spc="-55"/>
              <a:t> </a:t>
            </a:r>
            <a:r>
              <a:rPr dirty="0" spc="-1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8125" y="723900"/>
            <a:ext cx="7315200" cy="48387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176000" y="6434454"/>
            <a:ext cx="10731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7E7E7E"/>
                </a:solidFill>
                <a:latin typeface="Trebuchet MS"/>
                <a:cs typeface="Trebuchet MS"/>
              </a:rPr>
              <a:t>6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68175" y="0"/>
            <a:ext cx="123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836" y="1589608"/>
            <a:ext cx="236264" cy="23603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50875" y="1042098"/>
            <a:ext cx="4182110" cy="310642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000" b="1">
                <a:latin typeface="Georgia"/>
                <a:cs typeface="Georgia"/>
              </a:rPr>
              <a:t>Experimental</a:t>
            </a:r>
            <a:r>
              <a:rPr dirty="0" sz="2000" spc="-55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Setup</a:t>
            </a:r>
            <a:r>
              <a:rPr dirty="0" sz="2000" spc="-20" b="1">
                <a:latin typeface="Georgia"/>
                <a:cs typeface="Georgia"/>
              </a:rPr>
              <a:t> </a:t>
            </a:r>
            <a:r>
              <a:rPr dirty="0" sz="2000" b="1">
                <a:latin typeface="Georgia"/>
                <a:cs typeface="Georgia"/>
              </a:rPr>
              <a:t>&amp;</a:t>
            </a:r>
            <a:r>
              <a:rPr dirty="0" sz="2000" spc="-70" b="1">
                <a:latin typeface="Georgia"/>
                <a:cs typeface="Georgia"/>
              </a:rPr>
              <a:t> </a:t>
            </a:r>
            <a:r>
              <a:rPr dirty="0" sz="2000" spc="-10" b="1">
                <a:latin typeface="Georgia"/>
                <a:cs typeface="Georgia"/>
              </a:rPr>
              <a:t>Dataset</a:t>
            </a:r>
            <a:endParaRPr sz="2000">
              <a:latin typeface="Georgia"/>
              <a:cs typeface="Georgia"/>
            </a:endParaRPr>
          </a:p>
          <a:p>
            <a:pPr marL="369570">
              <a:lnSpc>
                <a:spcPct val="100000"/>
              </a:lnSpc>
              <a:spcBef>
                <a:spcPts val="755"/>
              </a:spcBef>
            </a:pPr>
            <a:r>
              <a:rPr dirty="0" sz="2000">
                <a:latin typeface="Georgia"/>
                <a:cs typeface="Georgia"/>
              </a:rPr>
              <a:t>Experimental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Setup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Georgia"/>
                <a:cs typeface="Georgia"/>
              </a:rPr>
              <a:t>Language: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Python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Georgia"/>
                <a:cs typeface="Georgia"/>
              </a:rPr>
              <a:t>Framework: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TensorFlow</a:t>
            </a:r>
            <a:r>
              <a:rPr dirty="0" sz="2000" spc="-6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/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Keras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Georgia"/>
                <a:cs typeface="Georgia"/>
              </a:rPr>
              <a:t>Pose</a:t>
            </a:r>
            <a:r>
              <a:rPr dirty="0" sz="2000" spc="-2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Extraction: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MediaPipe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Georgia"/>
                <a:cs typeface="Georgia"/>
              </a:rPr>
              <a:t>Sequence</a:t>
            </a:r>
            <a:r>
              <a:rPr dirty="0" sz="2000" spc="-7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Length:</a:t>
            </a:r>
            <a:r>
              <a:rPr dirty="0" sz="2000" spc="-25">
                <a:latin typeface="Georgia"/>
                <a:cs typeface="Georgia"/>
              </a:rPr>
              <a:t> 34</a:t>
            </a:r>
            <a:endParaRPr sz="2000">
              <a:latin typeface="Georgia"/>
              <a:cs typeface="Georgia"/>
            </a:endParaRPr>
          </a:p>
          <a:p>
            <a:pPr marL="240665" indent="-227965">
              <a:lnSpc>
                <a:spcPts val="229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Georgia"/>
                <a:cs typeface="Georgia"/>
              </a:rPr>
              <a:t>Classification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Type:</a:t>
            </a:r>
            <a:r>
              <a:rPr dirty="0" sz="2000" spc="-2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Binary</a:t>
            </a:r>
            <a:endParaRPr sz="2000">
              <a:latin typeface="Georgia"/>
              <a:cs typeface="Georgia"/>
            </a:endParaRPr>
          </a:p>
          <a:p>
            <a:pPr marL="241300">
              <a:lnSpc>
                <a:spcPts val="2290"/>
              </a:lnSpc>
              <a:tabLst>
                <a:tab pos="1829435" algn="l"/>
                <a:tab pos="2436495" algn="l"/>
              </a:tabLst>
            </a:pPr>
            <a:r>
              <a:rPr dirty="0" sz="2000" spc="-10">
                <a:latin typeface="Georgia"/>
                <a:cs typeface="Georgia"/>
              </a:rPr>
              <a:t>(Dumping</a:t>
            </a:r>
            <a:r>
              <a:rPr dirty="0" sz="2000">
                <a:latin typeface="Georgia"/>
                <a:cs typeface="Georgia"/>
              </a:rPr>
              <a:t>	</a:t>
            </a:r>
            <a:r>
              <a:rPr dirty="0" sz="2000" spc="-25">
                <a:latin typeface="Georgia"/>
                <a:cs typeface="Georgia"/>
              </a:rPr>
              <a:t>vs</a:t>
            </a:r>
            <a:r>
              <a:rPr dirty="0" sz="2000">
                <a:latin typeface="Georgia"/>
                <a:cs typeface="Georgia"/>
              </a:rPr>
              <a:t>	</a:t>
            </a:r>
            <a:r>
              <a:rPr dirty="0" sz="2000" spc="-10">
                <a:latin typeface="Georgia"/>
                <a:cs typeface="Georgia"/>
              </a:rPr>
              <a:t>Non-Dumping)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Result</a:t>
            </a:r>
            <a:r>
              <a:rPr dirty="0" spc="-60"/>
              <a:t> </a:t>
            </a:r>
            <a:r>
              <a:rPr dirty="0" spc="-10"/>
              <a:t>Analysis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4536" y="1208525"/>
            <a:ext cx="236264" cy="23603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255765" y="1149032"/>
            <a:ext cx="4457700" cy="3081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6068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Trebuchet MS"/>
                <a:cs typeface="Trebuchet MS"/>
              </a:rPr>
              <a:t>Dataset</a:t>
            </a:r>
            <a:r>
              <a:rPr dirty="0" sz="2000" spc="-75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Details</a:t>
            </a:r>
            <a:endParaRPr sz="20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>
                <a:latin typeface="Tahoma"/>
                <a:cs typeface="Tahoma"/>
              </a:rPr>
              <a:t>Custom-collected</a:t>
            </a:r>
            <a:r>
              <a:rPr dirty="0" sz="2000" spc="1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surveillance </a:t>
            </a:r>
            <a:r>
              <a:rPr dirty="0" sz="2000" spc="-10">
                <a:latin typeface="Tahoma"/>
                <a:cs typeface="Tahoma"/>
              </a:rPr>
              <a:t>videos</a:t>
            </a:r>
            <a:endParaRPr sz="20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spc="-10">
                <a:latin typeface="Tahoma"/>
                <a:cs typeface="Tahoma"/>
              </a:rPr>
              <a:t>Classes:</a:t>
            </a:r>
            <a:endParaRPr sz="20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buFont typeface="Arial MT"/>
              <a:buChar char="•"/>
              <a:tabLst>
                <a:tab pos="755650" algn="l"/>
              </a:tabLst>
            </a:pPr>
            <a:r>
              <a:rPr dirty="0" sz="2000" spc="85">
                <a:latin typeface="Tahoma"/>
                <a:cs typeface="Tahoma"/>
              </a:rPr>
              <a:t>Class</a:t>
            </a:r>
            <a:r>
              <a:rPr dirty="0" sz="2000" spc="-22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0</a:t>
            </a:r>
            <a:r>
              <a:rPr dirty="0" sz="2000" spc="-165">
                <a:latin typeface="Tahoma"/>
                <a:cs typeface="Tahoma"/>
              </a:rPr>
              <a:t> </a:t>
            </a:r>
            <a:r>
              <a:rPr dirty="0" sz="2000" spc="-800">
                <a:latin typeface="Tahoma"/>
                <a:cs typeface="Tahoma"/>
              </a:rPr>
              <a:t>→</a:t>
            </a:r>
            <a:r>
              <a:rPr dirty="0" sz="2000" spc="-229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Normal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Activity</a:t>
            </a:r>
            <a:endParaRPr sz="20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5650" algn="l"/>
              </a:tabLst>
            </a:pPr>
            <a:r>
              <a:rPr dirty="0" sz="2000" spc="85">
                <a:latin typeface="Tahoma"/>
                <a:cs typeface="Tahoma"/>
              </a:rPr>
              <a:t>Class</a:t>
            </a:r>
            <a:r>
              <a:rPr dirty="0" sz="2000" spc="-25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1</a:t>
            </a:r>
            <a:r>
              <a:rPr dirty="0" sz="2000" spc="-195">
                <a:latin typeface="Tahoma"/>
                <a:cs typeface="Tahoma"/>
              </a:rPr>
              <a:t> </a:t>
            </a:r>
            <a:r>
              <a:rPr dirty="0" sz="2000" spc="-800">
                <a:latin typeface="Tahoma"/>
                <a:cs typeface="Tahoma"/>
              </a:rPr>
              <a:t>→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Garbage</a:t>
            </a:r>
            <a:r>
              <a:rPr dirty="0" sz="2000" spc="-18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Dumping</a:t>
            </a:r>
            <a:endParaRPr sz="20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spc="-10">
                <a:latin typeface="Tahoma"/>
                <a:cs typeface="Tahoma"/>
              </a:rPr>
              <a:t>Data</a:t>
            </a:r>
            <a:r>
              <a:rPr dirty="0" sz="2000" spc="-254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Preprocessing:</a:t>
            </a:r>
            <a:endParaRPr sz="20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buFont typeface="Arial MT"/>
              <a:buChar char="•"/>
              <a:tabLst>
                <a:tab pos="755650" algn="l"/>
              </a:tabLst>
            </a:pPr>
            <a:r>
              <a:rPr dirty="0" sz="2000" spc="-25">
                <a:latin typeface="Tahoma"/>
                <a:cs typeface="Tahoma"/>
              </a:rPr>
              <a:t>Frame</a:t>
            </a:r>
            <a:r>
              <a:rPr dirty="0" sz="2000" spc="-229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extraction</a:t>
            </a:r>
            <a:endParaRPr sz="20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Pose</a:t>
            </a:r>
            <a:r>
              <a:rPr dirty="0" sz="2000" spc="-170">
                <a:latin typeface="Tahoma"/>
                <a:cs typeface="Tahoma"/>
              </a:rPr>
              <a:t> </a:t>
            </a:r>
            <a:r>
              <a:rPr dirty="0" sz="2000" spc="-35">
                <a:latin typeface="Tahoma"/>
                <a:cs typeface="Tahoma"/>
              </a:rPr>
              <a:t>keypoint</a:t>
            </a:r>
            <a:r>
              <a:rPr dirty="0" sz="2000" spc="-1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normalization</a:t>
            </a:r>
            <a:endParaRPr sz="2000">
              <a:latin typeface="Tahoma"/>
              <a:cs typeface="Tahoma"/>
            </a:endParaRPr>
          </a:p>
          <a:p>
            <a:pPr lvl="1" marL="7556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5650" algn="l"/>
              </a:tabLst>
            </a:pPr>
            <a:r>
              <a:rPr dirty="0" sz="2000">
                <a:latin typeface="Tahoma"/>
                <a:cs typeface="Tahoma"/>
              </a:rPr>
              <a:t>Sequence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generation</a:t>
            </a:r>
            <a:endParaRPr sz="20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105">
                <a:latin typeface="Tahoma"/>
                <a:cs typeface="Tahoma"/>
              </a:rPr>
              <a:t>Train-</a:t>
            </a:r>
            <a:r>
              <a:rPr dirty="0" sz="2000" spc="-80">
                <a:latin typeface="Tahoma"/>
                <a:cs typeface="Tahoma"/>
              </a:rPr>
              <a:t>Test</a:t>
            </a:r>
            <a:r>
              <a:rPr dirty="0" sz="2000" spc="-18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Split:</a:t>
            </a:r>
            <a:r>
              <a:rPr dirty="0" sz="2000" spc="-175">
                <a:latin typeface="Tahoma"/>
                <a:cs typeface="Tahoma"/>
              </a:rPr>
              <a:t> </a:t>
            </a:r>
            <a:r>
              <a:rPr dirty="0" sz="2000" spc="-90">
                <a:latin typeface="Tahoma"/>
                <a:cs typeface="Tahoma"/>
              </a:rPr>
              <a:t>(e.g.,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80:20)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7" name="object 7" descr=""/>
          <p:cNvSpPr txBox="1"/>
          <p:nvPr/>
        </p:nvSpPr>
        <p:spPr>
          <a:xfrm>
            <a:off x="2871851" y="4592256"/>
            <a:ext cx="5855335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Trebuchet MS"/>
                <a:cs typeface="Trebuchet MS"/>
              </a:rPr>
              <a:t>Why</a:t>
            </a:r>
            <a:r>
              <a:rPr dirty="0" sz="1800" spc="-5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Custom</a:t>
            </a:r>
            <a:r>
              <a:rPr dirty="0" sz="1800" spc="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Dataset?</a:t>
            </a:r>
            <a:endParaRPr sz="1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Char char="•"/>
              <a:tabLst>
                <a:tab pos="241300" algn="l"/>
              </a:tabLst>
            </a:pPr>
            <a:r>
              <a:rPr dirty="0" sz="1800">
                <a:latin typeface="Tahoma"/>
                <a:cs typeface="Tahoma"/>
              </a:rPr>
              <a:t>No</a:t>
            </a:r>
            <a:r>
              <a:rPr dirty="0" sz="1800" spc="-11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public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dataset</a:t>
            </a:r>
            <a:r>
              <a:rPr dirty="0" sz="1800" spc="-1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specifically</a:t>
            </a:r>
            <a:r>
              <a:rPr dirty="0" sz="1800" spc="-85">
                <a:latin typeface="Tahoma"/>
                <a:cs typeface="Tahoma"/>
              </a:rPr>
              <a:t> </a:t>
            </a:r>
            <a:r>
              <a:rPr dirty="0" sz="1800" spc="-45">
                <a:latin typeface="Tahoma"/>
                <a:cs typeface="Tahoma"/>
              </a:rPr>
              <a:t>for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illegal</a:t>
            </a:r>
            <a:r>
              <a:rPr dirty="0" sz="1800" spc="-114">
                <a:latin typeface="Tahoma"/>
                <a:cs typeface="Tahoma"/>
              </a:rPr>
              <a:t> </a:t>
            </a:r>
            <a:r>
              <a:rPr dirty="0" sz="1800" spc="-60">
                <a:latin typeface="Tahoma"/>
                <a:cs typeface="Tahoma"/>
              </a:rPr>
              <a:t>garbage</a:t>
            </a:r>
            <a:r>
              <a:rPr dirty="0" sz="1800" spc="-1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dumping</a:t>
            </a:r>
            <a:endParaRPr sz="18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Char char="•"/>
              <a:tabLst>
                <a:tab pos="241300" algn="l"/>
              </a:tabLst>
            </a:pPr>
            <a:r>
              <a:rPr dirty="0" sz="1800" spc="-10">
                <a:latin typeface="Tahoma"/>
                <a:cs typeface="Tahoma"/>
              </a:rPr>
              <a:t>Real-</a:t>
            </a:r>
            <a:r>
              <a:rPr dirty="0" sz="1800" spc="-25">
                <a:latin typeface="Tahoma"/>
                <a:cs typeface="Tahoma"/>
              </a:rPr>
              <a:t>world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surveillance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simulation</a:t>
            </a:r>
            <a:endParaRPr sz="18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Char char="•"/>
              <a:tabLst>
                <a:tab pos="241300" algn="l"/>
              </a:tabLst>
            </a:pPr>
            <a:r>
              <a:rPr dirty="0" sz="1800" spc="-25">
                <a:latin typeface="Tahoma"/>
                <a:cs typeface="Tahoma"/>
              </a:rPr>
              <a:t>Privacy</a:t>
            </a:r>
            <a:r>
              <a:rPr dirty="0" sz="1800" spc="-135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preserved</a:t>
            </a:r>
            <a:r>
              <a:rPr dirty="0" sz="1800" spc="-175">
                <a:latin typeface="Tahoma"/>
                <a:cs typeface="Tahoma"/>
              </a:rPr>
              <a:t> </a:t>
            </a:r>
            <a:r>
              <a:rPr dirty="0" sz="1800" spc="-45">
                <a:latin typeface="Tahoma"/>
                <a:cs typeface="Tahoma"/>
              </a:rPr>
              <a:t>(only</a:t>
            </a:r>
            <a:r>
              <a:rPr dirty="0" sz="1800" spc="-2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skeletal</a:t>
            </a:r>
            <a:r>
              <a:rPr dirty="0" sz="1800" spc="-16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keypoints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used)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565150" y="3263900"/>
          <a:ext cx="11298555" cy="219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4510"/>
                <a:gridCol w="5604510"/>
              </a:tblGrid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Tahoma"/>
                          <a:cs typeface="Tahoma"/>
                        </a:rPr>
                        <a:t>Metric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Tahoma"/>
                          <a:cs typeface="Tahoma"/>
                        </a:rPr>
                        <a:t>Value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10">
                          <a:latin typeface="Tahoma"/>
                          <a:cs typeface="Tahoma"/>
                        </a:rPr>
                        <a:t>Accuracy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25">
                          <a:latin typeface="Tahoma"/>
                          <a:cs typeface="Tahoma"/>
                        </a:rPr>
                        <a:t>86%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>
                          <a:latin typeface="Tahoma"/>
                          <a:cs typeface="Tahoma"/>
                        </a:rPr>
                        <a:t>Precision</a:t>
                      </a:r>
                      <a:r>
                        <a:rPr dirty="0" sz="1800" spc="-7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>
                          <a:latin typeface="Tahoma"/>
                          <a:cs typeface="Tahoma"/>
                        </a:rPr>
                        <a:t>(Class</a:t>
                      </a:r>
                      <a:r>
                        <a:rPr dirty="0" sz="18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25">
                          <a:latin typeface="Tahoma"/>
                          <a:cs typeface="Tahoma"/>
                        </a:rPr>
                        <a:t>0)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800" spc="-20">
                          <a:latin typeface="Tahoma"/>
                          <a:cs typeface="Tahoma"/>
                        </a:rPr>
                        <a:t>0.86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800">
                          <a:latin typeface="Tahoma"/>
                          <a:cs typeface="Tahoma"/>
                        </a:rPr>
                        <a:t>Recall</a:t>
                      </a:r>
                      <a:r>
                        <a:rPr dirty="0" sz="18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>
                          <a:latin typeface="Tahoma"/>
                          <a:cs typeface="Tahoma"/>
                        </a:rPr>
                        <a:t>(Class</a:t>
                      </a:r>
                      <a:r>
                        <a:rPr dirty="0" sz="18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25">
                          <a:latin typeface="Tahoma"/>
                          <a:cs typeface="Tahoma"/>
                        </a:rPr>
                        <a:t>0)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800" spc="-20">
                          <a:latin typeface="Tahoma"/>
                          <a:cs typeface="Tahoma"/>
                        </a:rPr>
                        <a:t>1.00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30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spc="-30">
                          <a:latin typeface="Tahoma"/>
                          <a:cs typeface="Tahoma"/>
                        </a:rPr>
                        <a:t>F1-</a:t>
                      </a:r>
                      <a:r>
                        <a:rPr dirty="0" sz="1800">
                          <a:latin typeface="Tahoma"/>
                          <a:cs typeface="Tahoma"/>
                        </a:rPr>
                        <a:t>score</a:t>
                      </a:r>
                      <a:r>
                        <a:rPr dirty="0" sz="18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>
                          <a:latin typeface="Tahoma"/>
                          <a:cs typeface="Tahoma"/>
                        </a:rPr>
                        <a:t>(Class</a:t>
                      </a:r>
                      <a:r>
                        <a:rPr dirty="0" sz="1800" spc="-1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35">
                          <a:latin typeface="Tahoma"/>
                          <a:cs typeface="Tahoma"/>
                        </a:rPr>
                        <a:t>0)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spc="-20">
                          <a:latin typeface="Tahoma"/>
                          <a:cs typeface="Tahoma"/>
                        </a:rPr>
                        <a:t>0.92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spc="65">
                          <a:latin typeface="Tahoma"/>
                          <a:cs typeface="Tahoma"/>
                        </a:rPr>
                        <a:t>Class</a:t>
                      </a:r>
                      <a:r>
                        <a:rPr dirty="0" sz="1800" spc="-16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35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1800" spc="-17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10">
                          <a:latin typeface="Tahoma"/>
                          <a:cs typeface="Tahoma"/>
                        </a:rPr>
                        <a:t>Recall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800" spc="-35">
                          <a:latin typeface="Tahoma"/>
                          <a:cs typeface="Tahoma"/>
                        </a:rPr>
                        <a:t>0.00</a:t>
                      </a:r>
                      <a:r>
                        <a:rPr dirty="0" sz="1800" spc="-2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30">
                          <a:latin typeface="Tahoma"/>
                          <a:cs typeface="Tahoma"/>
                        </a:rPr>
                        <a:t>(needs</a:t>
                      </a:r>
                      <a:r>
                        <a:rPr dirty="0" sz="18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10">
                          <a:latin typeface="Tahoma"/>
                          <a:cs typeface="Tahoma"/>
                        </a:rPr>
                        <a:t>improvement)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Result</a:t>
            </a:r>
            <a:r>
              <a:rPr dirty="0" spc="-60"/>
              <a:t> </a:t>
            </a:r>
            <a:r>
              <a:rPr dirty="0" spc="-10"/>
              <a:t>Analysis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" y="1047686"/>
            <a:ext cx="538162" cy="4810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" y="2695511"/>
            <a:ext cx="538162" cy="48101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50875" y="824928"/>
            <a:ext cx="4578350" cy="22269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18770" marR="1732280" indent="-306705">
              <a:lnSpc>
                <a:spcPct val="100800"/>
              </a:lnSpc>
              <a:spcBef>
                <a:spcPts val="85"/>
              </a:spcBef>
            </a:pPr>
            <a:r>
              <a:rPr dirty="0" sz="1800" spc="-40" b="1">
                <a:latin typeface="Trebuchet MS"/>
                <a:cs typeface="Trebuchet MS"/>
              </a:rPr>
              <a:t>Performance</a:t>
            </a:r>
            <a:r>
              <a:rPr dirty="0" sz="1800" spc="-120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Metrics </a:t>
            </a:r>
            <a:r>
              <a:rPr dirty="0" sz="1800" spc="-25" b="1">
                <a:latin typeface="Trebuchet MS"/>
                <a:cs typeface="Trebuchet MS"/>
              </a:rPr>
              <a:t>Evaluation</a:t>
            </a:r>
            <a:r>
              <a:rPr dirty="0" sz="1800" spc="-20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Metrics</a:t>
            </a:r>
            <a:r>
              <a:rPr dirty="0" sz="1800" spc="-65" b="1">
                <a:latin typeface="Trebuchet MS"/>
                <a:cs typeface="Trebuchet MS"/>
              </a:rPr>
              <a:t> </a:t>
            </a:r>
            <a:r>
              <a:rPr dirty="0" sz="1800" spc="-20" b="1">
                <a:latin typeface="Trebuchet MS"/>
                <a:cs typeface="Trebuchet MS"/>
              </a:rPr>
              <a:t>Used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5"/>
              </a:spcBef>
              <a:buChar char="•"/>
              <a:tabLst>
                <a:tab pos="240665" algn="l"/>
              </a:tabLst>
            </a:pPr>
            <a:r>
              <a:rPr dirty="0" sz="1800" spc="-10">
                <a:latin typeface="Tahoma"/>
                <a:cs typeface="Tahoma"/>
              </a:rPr>
              <a:t>Accuracy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ts val="2130"/>
              </a:lnSpc>
              <a:spcBef>
                <a:spcPts val="20"/>
              </a:spcBef>
              <a:buChar char="•"/>
              <a:tabLst>
                <a:tab pos="240665" algn="l"/>
              </a:tabLst>
            </a:pPr>
            <a:r>
              <a:rPr dirty="0" sz="1800" spc="-10">
                <a:latin typeface="Tahoma"/>
                <a:cs typeface="Tahoma"/>
              </a:rPr>
              <a:t>Precision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ts val="2130"/>
              </a:lnSpc>
              <a:buChar char="•"/>
              <a:tabLst>
                <a:tab pos="240665" algn="l"/>
              </a:tabLst>
            </a:pPr>
            <a:r>
              <a:rPr dirty="0" sz="1800" spc="-10">
                <a:latin typeface="Tahoma"/>
                <a:cs typeface="Tahoma"/>
              </a:rPr>
              <a:t>Recall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20"/>
              </a:spcBef>
              <a:buChar char="•"/>
              <a:tabLst>
                <a:tab pos="240665" algn="l"/>
              </a:tabLst>
            </a:pPr>
            <a:r>
              <a:rPr dirty="0" sz="1800" spc="-25">
                <a:latin typeface="Tahoma"/>
                <a:cs typeface="Tahoma"/>
              </a:rPr>
              <a:t>F1-</a:t>
            </a:r>
            <a:r>
              <a:rPr dirty="0" sz="1800" spc="-10">
                <a:latin typeface="Tahoma"/>
                <a:cs typeface="Tahoma"/>
              </a:rPr>
              <a:t>Score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Confusion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Matrix</a:t>
            </a:r>
            <a:endParaRPr sz="1800">
              <a:latin typeface="Tahoma"/>
              <a:cs typeface="Tahoma"/>
            </a:endParaRPr>
          </a:p>
          <a:p>
            <a:pPr marL="318770">
              <a:lnSpc>
                <a:spcPct val="100000"/>
              </a:lnSpc>
              <a:spcBef>
                <a:spcPts val="20"/>
              </a:spcBef>
            </a:pPr>
            <a:r>
              <a:rPr dirty="0" sz="1800" spc="-40" b="1">
                <a:latin typeface="Trebuchet MS"/>
                <a:cs typeface="Trebuchet MS"/>
              </a:rPr>
              <a:t>Current</a:t>
            </a:r>
            <a:r>
              <a:rPr dirty="0" sz="1800" spc="-16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Results</a:t>
            </a:r>
            <a:r>
              <a:rPr dirty="0" sz="1800" spc="-70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(Based</a:t>
            </a:r>
            <a:r>
              <a:rPr dirty="0" sz="1800" spc="-120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on</a:t>
            </a:r>
            <a:r>
              <a:rPr dirty="0" sz="1800" spc="-114" b="1">
                <a:latin typeface="Trebuchet MS"/>
                <a:cs typeface="Trebuchet MS"/>
              </a:rPr>
              <a:t> </a:t>
            </a:r>
            <a:r>
              <a:rPr dirty="0" sz="1800" spc="-45" b="1">
                <a:latin typeface="Trebuchet MS"/>
                <a:cs typeface="Trebuchet MS"/>
              </a:rPr>
              <a:t>Given</a:t>
            </a:r>
            <a:r>
              <a:rPr dirty="0" sz="1800" spc="-110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Metrics)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8379" y="1046659"/>
            <a:ext cx="226594" cy="21692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989065" y="996378"/>
            <a:ext cx="4888230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rebuchet MS"/>
                <a:cs typeface="Trebuchet MS"/>
              </a:rPr>
              <a:t>Confusion</a:t>
            </a:r>
            <a:r>
              <a:rPr dirty="0" sz="1800" spc="-65" b="1">
                <a:latin typeface="Trebuchet MS"/>
                <a:cs typeface="Trebuchet MS"/>
              </a:rPr>
              <a:t> </a:t>
            </a:r>
            <a:r>
              <a:rPr dirty="0" sz="1800" spc="-40" b="1">
                <a:latin typeface="Trebuchet MS"/>
                <a:cs typeface="Trebuchet MS"/>
              </a:rPr>
              <a:t>Matrix</a:t>
            </a:r>
            <a:r>
              <a:rPr dirty="0" sz="1800" spc="-15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Interpretation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2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Model</a:t>
            </a:r>
            <a:r>
              <a:rPr dirty="0" sz="1800" spc="-1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correctly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identifies</a:t>
            </a:r>
            <a:r>
              <a:rPr dirty="0" sz="1800" spc="-1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most</a:t>
            </a:r>
            <a:r>
              <a:rPr dirty="0" sz="1800" spc="-1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normal</a:t>
            </a:r>
            <a:r>
              <a:rPr dirty="0" sz="1800" spc="-1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actions.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20"/>
              </a:spcBef>
              <a:buChar char="•"/>
              <a:tabLst>
                <a:tab pos="240665" algn="l"/>
              </a:tabLst>
            </a:pPr>
            <a:r>
              <a:rPr dirty="0" sz="1800" spc="-10">
                <a:latin typeface="Tahoma"/>
                <a:cs typeface="Tahoma"/>
              </a:rPr>
              <a:t>Limited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detection</a:t>
            </a:r>
            <a:r>
              <a:rPr dirty="0" sz="1800" spc="-1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160">
                <a:latin typeface="Tahoma"/>
                <a:cs typeface="Tahoma"/>
              </a:rPr>
              <a:t> </a:t>
            </a:r>
            <a:r>
              <a:rPr dirty="0" sz="1800" spc="-30">
                <a:latin typeface="Tahoma"/>
                <a:cs typeface="Tahoma"/>
              </a:rPr>
              <a:t>dumping</a:t>
            </a:r>
            <a:r>
              <a:rPr dirty="0" sz="1800" spc="-11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class.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5"/>
              </a:spcBef>
              <a:buChar char="•"/>
              <a:tabLst>
                <a:tab pos="240665" algn="l"/>
              </a:tabLst>
            </a:pPr>
            <a:r>
              <a:rPr dirty="0" sz="1800" spc="65">
                <a:latin typeface="Tahoma"/>
                <a:cs typeface="Tahoma"/>
              </a:rPr>
              <a:t>Class</a:t>
            </a:r>
            <a:r>
              <a:rPr dirty="0" sz="1800" spc="-10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imbalance</a:t>
            </a:r>
            <a:r>
              <a:rPr dirty="0" sz="1800" spc="-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affects</a:t>
            </a:r>
            <a:r>
              <a:rPr dirty="0" sz="1800" spc="-18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performance.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836" y="1580083"/>
            <a:ext cx="236264" cy="2360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Result</a:t>
            </a:r>
            <a:r>
              <a:rPr dirty="0" spc="-60"/>
              <a:t> </a:t>
            </a:r>
            <a:r>
              <a:rPr dirty="0" spc="-10"/>
              <a:t>Analysis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379" y="3656509"/>
            <a:ext cx="226594" cy="21692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40665" marR="520700" indent="-228600">
              <a:lnSpc>
                <a:spcPct val="131500"/>
              </a:lnSpc>
              <a:spcBef>
                <a:spcPts val="90"/>
              </a:spcBef>
              <a:buFont typeface="Arial MT"/>
              <a:buChar char="•"/>
              <a:tabLst>
                <a:tab pos="360045" algn="l"/>
              </a:tabLst>
            </a:pPr>
            <a:r>
              <a:rPr dirty="0" spc="-30"/>
              <a:t>Performance</a:t>
            </a:r>
            <a:r>
              <a:rPr dirty="0" spc="-175"/>
              <a:t> </a:t>
            </a:r>
            <a:r>
              <a:rPr dirty="0"/>
              <a:t>Analysis</a:t>
            </a:r>
            <a:r>
              <a:rPr dirty="0" spc="-75"/>
              <a:t> </a:t>
            </a:r>
            <a:r>
              <a:rPr dirty="0" spc="505"/>
              <a:t>s</a:t>
            </a:r>
            <a:r>
              <a:rPr dirty="0" spc="-190"/>
              <a:t> </a:t>
            </a:r>
            <a:r>
              <a:rPr dirty="0" spc="-10"/>
              <a:t>Observations 	Strengths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pc="-25" b="0">
                <a:latin typeface="Tahoma"/>
                <a:cs typeface="Tahoma"/>
              </a:rPr>
              <a:t>High</a:t>
            </a:r>
            <a:r>
              <a:rPr dirty="0" spc="-175" b="0">
                <a:latin typeface="Tahoma"/>
                <a:cs typeface="Tahoma"/>
              </a:rPr>
              <a:t> </a:t>
            </a:r>
            <a:r>
              <a:rPr dirty="0" b="0">
                <a:latin typeface="Tahoma"/>
                <a:cs typeface="Tahoma"/>
              </a:rPr>
              <a:t>accuracy</a:t>
            </a:r>
            <a:r>
              <a:rPr dirty="0" spc="-204" b="0">
                <a:latin typeface="Tahoma"/>
                <a:cs typeface="Tahoma"/>
              </a:rPr>
              <a:t> </a:t>
            </a:r>
            <a:r>
              <a:rPr dirty="0" spc="-60" b="0">
                <a:latin typeface="Tahoma"/>
                <a:cs typeface="Tahoma"/>
              </a:rPr>
              <a:t>for</a:t>
            </a:r>
            <a:r>
              <a:rPr dirty="0" spc="-10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normal</a:t>
            </a:r>
            <a:r>
              <a:rPr dirty="0" spc="-100" b="0">
                <a:latin typeface="Tahoma"/>
                <a:cs typeface="Tahoma"/>
              </a:rPr>
              <a:t> </a:t>
            </a:r>
            <a:r>
              <a:rPr dirty="0" spc="-25" b="0">
                <a:latin typeface="Tahoma"/>
                <a:cs typeface="Tahoma"/>
              </a:rPr>
              <a:t>activity</a:t>
            </a:r>
            <a:r>
              <a:rPr dirty="0" spc="-204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detection</a:t>
            </a:r>
          </a:p>
          <a:p>
            <a:pPr marL="240665" indent="-227965">
              <a:lnSpc>
                <a:spcPts val="229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pc="-60" b="0">
                <a:latin typeface="Tahoma"/>
                <a:cs typeface="Tahoma"/>
              </a:rPr>
              <a:t>Temporal</a:t>
            </a:r>
            <a:r>
              <a:rPr dirty="0" spc="-13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modeling</a:t>
            </a:r>
            <a:r>
              <a:rPr dirty="0" spc="-135" b="0">
                <a:latin typeface="Tahoma"/>
                <a:cs typeface="Tahoma"/>
              </a:rPr>
              <a:t> </a:t>
            </a:r>
            <a:r>
              <a:rPr dirty="0" b="0">
                <a:latin typeface="Tahoma"/>
                <a:cs typeface="Tahoma"/>
              </a:rPr>
              <a:t>reduces</a:t>
            </a:r>
            <a:r>
              <a:rPr dirty="0" spc="-14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random</a:t>
            </a:r>
            <a:r>
              <a:rPr dirty="0" spc="-204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false</a:t>
            </a:r>
          </a:p>
          <a:p>
            <a:pPr marL="241300">
              <a:lnSpc>
                <a:spcPts val="2290"/>
              </a:lnSpc>
            </a:pPr>
            <a:r>
              <a:rPr dirty="0" spc="-10" b="0">
                <a:latin typeface="Tahoma"/>
                <a:cs typeface="Tahoma"/>
              </a:rPr>
              <a:t>alarms</a:t>
            </a: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pc="-10" b="0">
                <a:latin typeface="Tahoma"/>
                <a:cs typeface="Tahoma"/>
              </a:rPr>
              <a:t>Real-</a:t>
            </a:r>
            <a:r>
              <a:rPr dirty="0" b="0">
                <a:latin typeface="Tahoma"/>
                <a:cs typeface="Tahoma"/>
              </a:rPr>
              <a:t>time</a:t>
            </a:r>
            <a:r>
              <a:rPr dirty="0" spc="-24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inference</a:t>
            </a:r>
            <a:r>
              <a:rPr dirty="0" spc="-15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achievable</a:t>
            </a:r>
          </a:p>
          <a:p>
            <a:pPr marL="325120">
              <a:lnSpc>
                <a:spcPct val="100000"/>
              </a:lnSpc>
              <a:spcBef>
                <a:spcPts val="2150"/>
              </a:spcBef>
            </a:pPr>
            <a:r>
              <a:rPr dirty="0" spc="-10"/>
              <a:t>Limitations</a:t>
            </a: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240665" algn="l"/>
              </a:tabLst>
            </a:pPr>
            <a:r>
              <a:rPr dirty="0" b="0">
                <a:latin typeface="Tahoma"/>
                <a:cs typeface="Tahoma"/>
              </a:rPr>
              <a:t>Small</a:t>
            </a:r>
            <a:r>
              <a:rPr dirty="0" spc="-8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dataset</a:t>
            </a:r>
            <a:r>
              <a:rPr dirty="0" spc="-135" b="0">
                <a:latin typeface="Tahoma"/>
                <a:cs typeface="Tahoma"/>
              </a:rPr>
              <a:t> </a:t>
            </a:r>
            <a:r>
              <a:rPr dirty="0" spc="-20" b="0">
                <a:latin typeface="Tahoma"/>
                <a:cs typeface="Tahoma"/>
              </a:rPr>
              <a:t>size</a:t>
            </a: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</a:tabLst>
            </a:pPr>
            <a:r>
              <a:rPr dirty="0" spc="90" b="0">
                <a:latin typeface="Tahoma"/>
                <a:cs typeface="Tahoma"/>
              </a:rPr>
              <a:t>Class</a:t>
            </a:r>
            <a:r>
              <a:rPr dirty="0" spc="-155" b="0">
                <a:latin typeface="Tahoma"/>
                <a:cs typeface="Tahoma"/>
              </a:rPr>
              <a:t> </a:t>
            </a:r>
            <a:r>
              <a:rPr dirty="0" b="0">
                <a:latin typeface="Tahoma"/>
                <a:cs typeface="Tahoma"/>
              </a:rPr>
              <a:t>imbalance</a:t>
            </a:r>
            <a:r>
              <a:rPr dirty="0" spc="-7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problem</a:t>
            </a: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240665" algn="l"/>
              </a:tabLst>
            </a:pPr>
            <a:r>
              <a:rPr dirty="0" spc="45" b="0">
                <a:latin typeface="Tahoma"/>
                <a:cs typeface="Tahoma"/>
              </a:rPr>
              <a:t>Occlusion</a:t>
            </a:r>
            <a:r>
              <a:rPr dirty="0" spc="-114" b="0">
                <a:latin typeface="Tahoma"/>
                <a:cs typeface="Tahoma"/>
              </a:rPr>
              <a:t> </a:t>
            </a:r>
            <a:r>
              <a:rPr dirty="0" spc="-20" b="0">
                <a:latin typeface="Tahoma"/>
                <a:cs typeface="Tahoma"/>
              </a:rPr>
              <a:t>and</a:t>
            </a:r>
            <a:r>
              <a:rPr dirty="0" spc="-130" b="0">
                <a:latin typeface="Tahoma"/>
                <a:cs typeface="Tahoma"/>
              </a:rPr>
              <a:t> </a:t>
            </a:r>
            <a:r>
              <a:rPr dirty="0" spc="-35" b="0">
                <a:latin typeface="Tahoma"/>
                <a:cs typeface="Tahoma"/>
              </a:rPr>
              <a:t>lighting</a:t>
            </a:r>
            <a:r>
              <a:rPr dirty="0" spc="-204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affect</a:t>
            </a:r>
            <a:r>
              <a:rPr dirty="0" spc="-185" b="0">
                <a:latin typeface="Tahoma"/>
                <a:cs typeface="Tahoma"/>
              </a:rPr>
              <a:t> </a:t>
            </a:r>
            <a:r>
              <a:rPr dirty="0" b="0">
                <a:latin typeface="Tahoma"/>
                <a:cs typeface="Tahoma"/>
              </a:rPr>
              <a:t>pose</a:t>
            </a:r>
            <a:r>
              <a:rPr dirty="0" spc="-22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extraction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4536" y="3504050"/>
            <a:ext cx="245715" cy="23603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255765" y="3447732"/>
            <a:ext cx="4359275" cy="18605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25"/>
              </a:spcBef>
            </a:pPr>
            <a:r>
              <a:rPr dirty="0" sz="2000" spc="-35" b="1">
                <a:latin typeface="Trebuchet MS"/>
                <a:cs typeface="Trebuchet MS"/>
              </a:rPr>
              <a:t>Improvement</a:t>
            </a:r>
            <a:r>
              <a:rPr dirty="0" sz="2000" spc="-145" b="1">
                <a:latin typeface="Trebuchet MS"/>
                <a:cs typeface="Trebuchet MS"/>
              </a:rPr>
              <a:t> </a:t>
            </a:r>
            <a:r>
              <a:rPr dirty="0" sz="2000" spc="-20" b="1">
                <a:latin typeface="Trebuchet MS"/>
                <a:cs typeface="Trebuchet MS"/>
              </a:rPr>
              <a:t>Plan</a:t>
            </a:r>
            <a:endParaRPr sz="20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240665" algn="l"/>
              </a:tabLst>
            </a:pPr>
            <a:r>
              <a:rPr dirty="0" sz="2000" spc="-25">
                <a:latin typeface="Tahoma"/>
                <a:cs typeface="Tahoma"/>
              </a:rPr>
              <a:t>Increase</a:t>
            </a:r>
            <a:r>
              <a:rPr dirty="0" sz="2000" spc="-15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dumping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samples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240665" algn="l"/>
              </a:tabLst>
            </a:pPr>
            <a:r>
              <a:rPr dirty="0" sz="2000" spc="-10">
                <a:latin typeface="Tahoma"/>
                <a:cs typeface="Tahoma"/>
              </a:rPr>
              <a:t>Apply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2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augmentation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</a:tabLst>
            </a:pPr>
            <a:r>
              <a:rPr dirty="0" sz="2000" spc="-90">
                <a:latin typeface="Tahoma"/>
                <a:cs typeface="Tahoma"/>
              </a:rPr>
              <a:t>Tune</a:t>
            </a:r>
            <a:r>
              <a:rPr dirty="0" sz="2000" spc="-16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LSTM</a:t>
            </a:r>
            <a:r>
              <a:rPr dirty="0" sz="2000" spc="-2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hyperparameters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240665" algn="l"/>
              </a:tabLst>
            </a:pPr>
            <a:r>
              <a:rPr dirty="0" sz="2000" spc="-25">
                <a:latin typeface="Tahoma"/>
                <a:cs typeface="Tahoma"/>
              </a:rPr>
              <a:t>Explore</a:t>
            </a:r>
            <a:r>
              <a:rPr dirty="0" sz="2000" spc="-2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GRU</a:t>
            </a:r>
            <a:r>
              <a:rPr dirty="0" sz="2000" spc="-150">
                <a:latin typeface="Tahoma"/>
                <a:cs typeface="Tahoma"/>
              </a:rPr>
              <a:t> </a:t>
            </a:r>
            <a:r>
              <a:rPr dirty="0" sz="2000" spc="-85">
                <a:latin typeface="Tahoma"/>
                <a:cs typeface="Tahoma"/>
              </a:rPr>
              <a:t>/</a:t>
            </a:r>
            <a:r>
              <a:rPr dirty="0" sz="2000" spc="-15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ConvLSTM</a:t>
            </a:r>
            <a:r>
              <a:rPr dirty="0" sz="2000" spc="-21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comparison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Balance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dataset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8739" y="6585430"/>
            <a:ext cx="132715" cy="27051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550" spc="-150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565150" y="1130300"/>
          <a:ext cx="8596630" cy="2939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5910"/>
                <a:gridCol w="3641090"/>
                <a:gridCol w="2031365"/>
              </a:tblGrid>
              <a:tr h="63944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Item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7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dirty="0" sz="1800" spc="-16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required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401955">
                        <a:lnSpc>
                          <a:spcPct val="100800"/>
                        </a:lnSpc>
                        <a:spcBef>
                          <a:spcPts val="204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Completion </a:t>
                      </a:r>
                      <a:r>
                        <a:rPr dirty="0" sz="1800" spc="-6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date(tentative)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2603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800">
                          <a:latin typeface="Tahoma"/>
                          <a:cs typeface="Tahoma"/>
                        </a:rPr>
                        <a:t>Module</a:t>
                      </a:r>
                      <a:r>
                        <a:rPr dirty="0" sz="1800" spc="-1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20">
                          <a:latin typeface="Tahoma"/>
                          <a:cs typeface="Tahoma"/>
                        </a:rPr>
                        <a:t>name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800">
                          <a:latin typeface="Tahoma"/>
                          <a:cs typeface="Tahoma"/>
                        </a:rPr>
                        <a:t>Module</a:t>
                      </a:r>
                      <a:r>
                        <a:rPr dirty="0" sz="1800" spc="-1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20">
                          <a:latin typeface="Tahoma"/>
                          <a:cs typeface="Tahoma"/>
                        </a:rPr>
                        <a:t>name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50">
                          <a:latin typeface="Tahoma"/>
                          <a:cs typeface="Tahoma"/>
                        </a:rPr>
                        <a:t>.</a:t>
                      </a:r>
                      <a:endParaRPr sz="1800">
                        <a:latin typeface="Tahoma"/>
                        <a:cs typeface="Tahom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 spc="-50">
                          <a:latin typeface="Tahoma"/>
                          <a:cs typeface="Tahoma"/>
                        </a:rPr>
                        <a:t>.</a:t>
                      </a:r>
                      <a:endParaRPr sz="1800">
                        <a:latin typeface="Tahoma"/>
                        <a:cs typeface="Tahom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800" spc="-50">
                          <a:latin typeface="Tahoma"/>
                          <a:cs typeface="Tahoma"/>
                        </a:rPr>
                        <a:t>.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 spc="-25">
                          <a:latin typeface="Tahoma"/>
                          <a:cs typeface="Tahoma"/>
                        </a:rPr>
                        <a:t>Paper</a:t>
                      </a:r>
                      <a:r>
                        <a:rPr dirty="0" sz="1800" spc="-1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10">
                          <a:latin typeface="Tahoma"/>
                          <a:cs typeface="Tahoma"/>
                        </a:rPr>
                        <a:t>writing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Remaining</a:t>
            </a:r>
            <a:r>
              <a:rPr dirty="0" spc="-135"/>
              <a:t> </a:t>
            </a:r>
            <a:r>
              <a:rPr dirty="0" spc="-20"/>
              <a:t>work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50875" y="4341431"/>
            <a:ext cx="2167255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>
                <a:solidFill>
                  <a:srgbClr val="A3123E"/>
                </a:solidFill>
                <a:latin typeface="Georgia"/>
                <a:cs typeface="Georgia"/>
              </a:rPr>
              <a:t>GitHub</a:t>
            </a:r>
            <a:r>
              <a:rPr dirty="0" sz="3200" spc="-75">
                <a:solidFill>
                  <a:srgbClr val="A3123E"/>
                </a:solidFill>
                <a:latin typeface="Georgia"/>
                <a:cs typeface="Georgia"/>
              </a:rPr>
              <a:t> </a:t>
            </a:r>
            <a:r>
              <a:rPr dirty="0" sz="3200" spc="-20">
                <a:solidFill>
                  <a:srgbClr val="A3123E"/>
                </a:solidFill>
                <a:latin typeface="Georgia"/>
                <a:cs typeface="Georgia"/>
              </a:rPr>
              <a:t>link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65245" y="4469447"/>
            <a:ext cx="45783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Tahoma"/>
                <a:cs typeface="Tahoma"/>
              </a:rPr>
              <a:t>Provide</a:t>
            </a:r>
            <a:r>
              <a:rPr dirty="0" sz="1800" spc="-14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the</a:t>
            </a:r>
            <a:r>
              <a:rPr dirty="0" sz="1800" spc="-190">
                <a:latin typeface="Tahoma"/>
                <a:cs typeface="Tahoma"/>
              </a:rPr>
              <a:t> </a:t>
            </a:r>
            <a:r>
              <a:rPr dirty="0" sz="1800" spc="-30">
                <a:latin typeface="Tahoma"/>
                <a:cs typeface="Tahoma"/>
              </a:rPr>
              <a:t>github</a:t>
            </a:r>
            <a:r>
              <a:rPr dirty="0" sz="1800" spc="-1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link</a:t>
            </a:r>
            <a:r>
              <a:rPr dirty="0" sz="1800" spc="-145">
                <a:latin typeface="Tahoma"/>
                <a:cs typeface="Tahoma"/>
              </a:rPr>
              <a:t> </a:t>
            </a:r>
            <a:r>
              <a:rPr dirty="0" sz="1800" spc="-35">
                <a:latin typeface="Tahoma"/>
                <a:cs typeface="Tahoma"/>
              </a:rPr>
              <a:t>to</a:t>
            </a:r>
            <a:r>
              <a:rPr dirty="0" sz="1800" spc="-18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the</a:t>
            </a:r>
            <a:r>
              <a:rPr dirty="0" sz="1800" spc="-14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project</a:t>
            </a:r>
            <a:r>
              <a:rPr dirty="0" sz="1800" spc="-14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repository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Reference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2026-02-13T17:36:31Z</dcterms:created>
  <dcterms:modified xsi:type="dcterms:W3CDTF">2026-02-13T17:36:31Z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LastSaved">
    <vt:filetime>2026-02-13T00:00:00Z</vt:filetime>
  </property>
</Properties>
</file>